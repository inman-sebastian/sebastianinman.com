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in one sentence. Say up front that this talk is meant to be useful whether or not anyone ever calls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first one out loud. It buys you the room's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show of hands on a couple of these. Get them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here. This is the slide that removes the fear.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people photograph. Pause and let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whichever of these matches the trades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earns trust. Say plainly that you turn work down when it fails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numbers out loud. Most of the room expects them to be far higher.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useful part here. The next slide is the only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83080"/>
            <a:ext cx="10908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busywork</a:t>
            </a:r>
            <a:endParaRPr lang="en-US" sz="5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400" b="1" dirty="0">
                <a:solidFill>
                  <a:srgbClr val="C0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worth fixing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776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repetitive jobs in a small business are actually worth handing to software, and which ones are not.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Sebastian Inman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01368"/>
            <a:ext cx="402336" cy="402336"/>
          </a:xfrm>
          <a:prstGeom prst="ellipse">
            <a:avLst/>
          </a:prstGeom>
          <a:solidFill>
            <a:srgbClr val="C05F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353312" y="178308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sales pitch.</a:t>
            </a:r>
            <a:endParaRPr lang="en-US" sz="2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 should be able to spot the jobs worth automating on your own, and do some of them yourself.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27248"/>
            <a:ext cx="402336" cy="402336"/>
          </a:xfrm>
          <a:prstGeom prst="ellipse">
            <a:avLst/>
          </a:prstGeom>
          <a:solidFill>
            <a:srgbClr val="C05F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310896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will tell you what is not worth doing.</a:t>
            </a:r>
            <a:endParaRPr lang="en-US" sz="2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what gets sold as automation is not worth the money for a business your size. I would rather say so.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53128"/>
            <a:ext cx="402336" cy="402336"/>
          </a:xfrm>
          <a:prstGeom prst="ellipse">
            <a:avLst/>
          </a:prstGeom>
          <a:solidFill>
            <a:srgbClr val="C05F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443484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jargon.</a:t>
            </a:r>
            <a:endParaRPr lang="en-US" sz="22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use a word that only makes sense to software people, stop me.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familiar?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2521458" cy="1234440"/>
          </a:xfrm>
          <a:prstGeom prst="roundRect">
            <a:avLst>
              <a:gd name="adj" fmla="val 8889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Retyping the same customer info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35858" y="1783080"/>
            <a:ext cx="2521458" cy="1234440"/>
          </a:xfrm>
          <a:prstGeom prst="roundRect">
            <a:avLst>
              <a:gd name="adj" fmla="val 8889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late invoices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31636" y="1783080"/>
            <a:ext cx="2521458" cy="1234440"/>
          </a:xfrm>
          <a:prstGeom prst="roundRect">
            <a:avLst>
              <a:gd name="adj" fmla="val 8889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 after hours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027414" y="1783080"/>
            <a:ext cx="2521458" cy="1234440"/>
          </a:xfrm>
          <a:prstGeom prst="roundRect">
            <a:avLst>
              <a:gd name="adj" fmla="val 8889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that do not match the register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2521458" cy="1234440"/>
          </a:xfrm>
          <a:prstGeom prst="roundRect">
            <a:avLst>
              <a:gd name="adj" fmla="val 8889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the same email again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35858" y="3246120"/>
            <a:ext cx="2521458" cy="1234440"/>
          </a:xfrm>
          <a:prstGeom prst="roundRect">
            <a:avLst>
              <a:gd name="adj" fmla="val 8889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appointment reminders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31636" y="3246120"/>
            <a:ext cx="2521458" cy="1234440"/>
          </a:xfrm>
          <a:prstGeom prst="roundRect">
            <a:avLst>
              <a:gd name="adj" fmla="val 8889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same question, again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027414" y="3246120"/>
            <a:ext cx="2521458" cy="1234440"/>
          </a:xfrm>
          <a:prstGeom prst="roundRect">
            <a:avLst>
              <a:gd name="adj" fmla="val 8889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Late-night paperwork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the same thing: a job you do the same way every time.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automation actually means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234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doing a job you would otherwise do by hand,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234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way, every time.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8620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whole idea. It is not robots, it is not replacing anybody, and for most of what I do it is not even particularly clever. It is a computer typing something so you do not have to.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 I use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questions. If a job answers yes to all three, it is worth looking at.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3392424" cy="2514600"/>
          </a:xfrm>
          <a:prstGeom prst="roundRect">
            <a:avLst>
              <a:gd name="adj" fmla="val 4727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happen every week?</a:t>
            </a:r>
            <a:endParaRPr lang="en-US" sz="21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14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quarter is not worth anybody's money to fix.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398264" y="1965960"/>
            <a:ext cx="3392424" cy="2514600"/>
          </a:xfrm>
          <a:prstGeom prst="roundRect">
            <a:avLst>
              <a:gd name="adj" fmla="val 4727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follow the same steps?</a:t>
            </a:r>
            <a:endParaRPr lang="en-US" sz="21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14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decide something different every time, it needs you.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56448" y="1965960"/>
            <a:ext cx="3392424" cy="2514600"/>
          </a:xfrm>
          <a:prstGeom prst="roundRect">
            <a:avLst>
              <a:gd name="adj" fmla="val 4727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getting it wrong cost you?</a:t>
            </a:r>
            <a:endParaRPr lang="en-US" sz="21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2100" dirty="0"/>
          </a:p>
          <a:p>
            <a:pPr indent="0" marL="0">
              <a:buNone/>
            </a:pPr>
            <a:r>
              <a:rPr lang="en-US" sz="14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missed follow-up costs a customer. A typo in a note does not.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00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05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down. It is the useful part of the talk.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looks like in practice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calls while you are with a customer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623560" y="2075688"/>
            <a:ext cx="457200" cy="310896"/>
          </a:xfrm>
          <a:prstGeom prst="rightArrow">
            <a:avLst/>
          </a:prstGeom>
          <a:solidFill>
            <a:srgbClr val="C05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1737360"/>
            <a:ext cx="5193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get a text back within seconds, with your hours and a booking link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new customer into three programs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3447288"/>
            <a:ext cx="457200" cy="310896"/>
          </a:xfrm>
          <a:prstGeom prst="rightArrow">
            <a:avLst/>
          </a:prstGeom>
          <a:solidFill>
            <a:srgbClr val="C05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3108960"/>
            <a:ext cx="5193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it once and the other two fill themselves in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805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chase the same three invoices every month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4818888"/>
            <a:ext cx="457200" cy="310896"/>
          </a:xfrm>
          <a:prstGeom prst="rightArrow">
            <a:avLst/>
          </a:prstGeom>
          <a:solidFill>
            <a:srgbClr val="C05F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4480560"/>
            <a:ext cx="5193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3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reminder goes out on its own, politely, until they pay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worth automating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10908792" cy="1298448"/>
          </a:xfrm>
          <a:prstGeom prst="roundRect">
            <a:avLst>
              <a:gd name="adj" fmla="val 9155"/>
            </a:avLst>
          </a:prstGeom>
          <a:solidFill>
            <a:srgbClr val="F7E7DB"/>
          </a:solidFill>
          <a:ln w="12700">
            <a:solidFill>
              <a:srgbClr val="EBD3C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5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you do twice a year</a:t>
            </a:r>
            <a:endParaRPr lang="en-US" sz="20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costs more than the job ever will. Do it by hand and forget it.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27248"/>
            <a:ext cx="10908792" cy="1298448"/>
          </a:xfrm>
          <a:prstGeom prst="roundRect">
            <a:avLst>
              <a:gd name="adj" fmla="val 9155"/>
            </a:avLst>
          </a:prstGeom>
          <a:solidFill>
            <a:srgbClr val="F7E7DB"/>
          </a:solidFill>
          <a:ln w="12700">
            <a:solidFill>
              <a:srgbClr val="EBD3C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5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that changes every time</a:t>
            </a:r>
            <a:endParaRPr lang="en-US" sz="20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needs a judgement call, it needs you. Software is bad at judgement and expensive at pretending.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608576"/>
            <a:ext cx="10908792" cy="1298448"/>
          </a:xfrm>
          <a:prstGeom prst="roundRect">
            <a:avLst>
              <a:gd name="adj" fmla="val 9155"/>
            </a:avLst>
          </a:prstGeom>
          <a:solidFill>
            <a:srgbClr val="F7E7DB"/>
          </a:solidFill>
          <a:ln w="12700">
            <a:solidFill>
              <a:srgbClr val="EBD3C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54D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 your customers come for</a:t>
            </a:r>
            <a:endParaRPr lang="en-US" sz="20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chose you because your confirmation email was quick. Automate around the relationship, never through it.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kind of work costs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numbers, so nobody has to guess whether this is for them.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2521458" cy="2194560"/>
          </a:xfrm>
          <a:prstGeom prst="roundRect">
            <a:avLst>
              <a:gd name="adj" fmla="val 5417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34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3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400" dirty="0"/>
          </a:p>
          <a:p>
            <a:pPr indent="0" marL="0">
              <a:buNone/>
            </a:pPr>
            <a:r>
              <a:rPr lang="en-US" sz="14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two tools you already pay for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3435858" y="2011680"/>
            <a:ext cx="2521458" cy="2194560"/>
          </a:xfrm>
          <a:prstGeom prst="roundRect">
            <a:avLst>
              <a:gd name="adj" fmla="val 5417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34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</a:t>
            </a:r>
            <a:endParaRPr lang="en-US" sz="3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400" dirty="0"/>
          </a:p>
          <a:p>
            <a:pPr indent="0" marL="0">
              <a:buNone/>
            </a:pPr>
            <a:r>
              <a:rPr lang="en-US" sz="14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one repetitive job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231636" y="2011680"/>
            <a:ext cx="2521458" cy="2194560"/>
          </a:xfrm>
          <a:prstGeom prst="roundRect">
            <a:avLst>
              <a:gd name="adj" fmla="val 5417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34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</a:t>
            </a:r>
            <a:endParaRPr lang="en-US" sz="3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400" dirty="0"/>
          </a:p>
          <a:p>
            <a:pPr indent="0" marL="0">
              <a:buNone/>
            </a:pPr>
            <a:r>
              <a:rPr lang="en-US" sz="14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assistant that answers after hours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027414" y="2011680"/>
            <a:ext cx="2521458" cy="2194560"/>
          </a:xfrm>
          <a:prstGeom prst="roundRect">
            <a:avLst>
              <a:gd name="adj" fmla="val 5417"/>
            </a:avLst>
          </a:prstGeom>
          <a:solidFill>
            <a:srgbClr val="FFFDF8"/>
          </a:solidFill>
          <a:ln w="12700">
            <a:solidFill>
              <a:srgbClr val="E7DFD2"/>
            </a:solidFill>
          </a:ln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34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$2,000</a:t>
            </a:r>
            <a:endParaRPr lang="en-US" sz="3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3400" dirty="0"/>
          </a:p>
          <a:p>
            <a:pPr indent="0" marL="0">
              <a:buNone/>
            </a:pPr>
            <a:r>
              <a:rPr lang="en-US" sz="1450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website that brings in customers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5262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prices, agreed before anything starts. No hourly billing and no surprise line items.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F0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Monday morning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502920" cy="502920"/>
          </a:xfrm>
          <a:prstGeom prst="ellipse">
            <a:avLst/>
          </a:prstGeom>
          <a:solidFill>
            <a:srgbClr val="234F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828800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every job you did more than twice last week.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234F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926080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off the ones that needed a decision. Those are yours to keep.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069080"/>
            <a:ext cx="502920" cy="502920"/>
          </a:xfrm>
          <a:prstGeom prst="ellipse">
            <a:avLst/>
          </a:prstGeom>
          <a:solidFill>
            <a:srgbClr val="234F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4023360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what is left, pick the one that annoyed you most. Start there.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2578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234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me for any of that.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38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get stuck on one of them,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coffee is on me.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person, not an agency. I will tell you when something is not worth doing.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029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sebastianinman.com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32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hello@sebastianinman.com  ·  (541) 592-9047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busywork worth fixing</dc:title>
  <dc:subject>PptxGenJS Presentation</dc:subject>
  <dc:creator>Sebastian Inman</dc:creator>
  <cp:lastModifiedBy>Sebastian Inman</cp:lastModifiedBy>
  <cp:revision>1</cp:revision>
  <dcterms:created xsi:type="dcterms:W3CDTF">2026-08-29T06:49:05Z</dcterms:created>
  <dcterms:modified xsi:type="dcterms:W3CDTF">2026-08-29T06:49:05Z</dcterms:modified>
</cp:coreProperties>
</file>